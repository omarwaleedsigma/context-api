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SECRET SHARING POWER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API • A visual adventure for beginner developers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6656832" cy="4416552"/>
          </a:xfrm>
          <a:prstGeom prst="roundRect">
            <a:avLst>
              <a:gd name="adj" fmla="val 6211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874520"/>
            <a:ext cx="5669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data to faraway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components…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78992" y="34290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…without passing props through every level!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641080" y="1783080"/>
            <a:ext cx="2304288" cy="230428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70264" y="258775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726680" y="4681728"/>
            <a:ext cx="1463040" cy="685800"/>
          </a:xfrm>
          <a:prstGeom prst="roundRect">
            <a:avLst>
              <a:gd name="adj" fmla="val 21333"/>
            </a:avLst>
          </a:prstGeom>
          <a:solidFill>
            <a:srgbClr val="E4F7FF"/>
          </a:solidFill>
          <a:ln w="16510">
            <a:solidFill>
              <a:srgbClr val="D9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08976" y="4773168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208008" y="5020056"/>
            <a:ext cx="-146304" cy="0"/>
          </a:xfrm>
          <a:prstGeom prst="line">
            <a:avLst/>
          </a:prstGeom>
          <a:noFill/>
          <a:ln w="25400">
            <a:solidFill>
              <a:srgbClr val="7755D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98280" y="4681728"/>
            <a:ext cx="146304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D9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4773168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579608" y="5020056"/>
            <a:ext cx="-146304" cy="0"/>
          </a:xfrm>
          <a:prstGeom prst="line">
            <a:avLst/>
          </a:prstGeom>
          <a:noFill/>
          <a:ln w="25400">
            <a:solidFill>
              <a:srgbClr val="7755D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469880" y="4681728"/>
            <a:ext cx="1463040" cy="685800"/>
          </a:xfrm>
          <a:prstGeom prst="roundRect">
            <a:avLst>
              <a:gd name="adj" fmla="val 21333"/>
            </a:avLst>
          </a:prstGeom>
          <a:solidFill>
            <a:srgbClr val="E1F9F0"/>
          </a:solidFill>
          <a:ln w="16510">
            <a:solidFill>
              <a:srgbClr val="D9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52176" y="4773168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818120" y="5641848"/>
            <a:ext cx="3520440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5696712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MORE PROP DRILLING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our tiny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theme color starts in App, but Button needs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435608"/>
            <a:ext cx="1874520" cy="685800"/>
          </a:xfrm>
          <a:prstGeom prst="roundRect">
            <a:avLst>
              <a:gd name="adj" fmla="val 21333"/>
            </a:avLst>
          </a:prstGeom>
          <a:solidFill>
            <a:srgbClr val="EEE9FF"/>
          </a:solidFill>
          <a:ln w="16510">
            <a:solidFill>
              <a:srgbClr val="7755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2936" y="1527048"/>
            <a:ext cx="1709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2514600"/>
            <a:ext cx="187452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D9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2936" y="2606040"/>
            <a:ext cx="1709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Navbar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3593592"/>
            <a:ext cx="187452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D9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2936" y="3685032"/>
            <a:ext cx="1709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4672584"/>
            <a:ext cx="1874520" cy="685800"/>
          </a:xfrm>
          <a:prstGeom prst="roundRect">
            <a:avLst>
              <a:gd name="adj" fmla="val 21333"/>
            </a:avLst>
          </a:prstGeom>
          <a:solidFill>
            <a:srgbClr val="E1F9F0"/>
          </a:solidFill>
          <a:ln w="16510">
            <a:solidFill>
              <a:srgbClr val="36B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2936" y="4764024"/>
            <a:ext cx="1709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62472" y="2121408"/>
            <a:ext cx="0" cy="374904"/>
          </a:xfrm>
          <a:prstGeom prst="line">
            <a:avLst/>
          </a:prstGeom>
          <a:noFill/>
          <a:ln w="38100">
            <a:solidFill>
              <a:srgbClr val="7755D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62472" y="3200400"/>
            <a:ext cx="0" cy="374904"/>
          </a:xfrm>
          <a:prstGeom prst="line">
            <a:avLst/>
          </a:prstGeom>
          <a:noFill/>
          <a:ln w="38100">
            <a:solidFill>
              <a:srgbClr val="7755D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62472" y="4279392"/>
            <a:ext cx="0" cy="374904"/>
          </a:xfrm>
          <a:prstGeom prst="line">
            <a:avLst/>
          </a:prstGeom>
          <a:noFill/>
          <a:ln w="38100">
            <a:solidFill>
              <a:srgbClr val="7755D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79792" y="1572768"/>
            <a:ext cx="2743200" cy="420624"/>
          </a:xfrm>
          <a:prstGeom prst="roundRect">
            <a:avLst>
              <a:gd name="adj" fmla="val 32609"/>
            </a:avLst>
          </a:prstGeom>
          <a:solidFill>
            <a:srgbClr val="FFF7DF"/>
          </a:solidFill>
          <a:ln w="12700">
            <a:solidFill>
              <a:srgbClr val="FFF7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= "dark"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70648" y="4809744"/>
            <a:ext cx="2743200" cy="420624"/>
          </a:xfrm>
          <a:prstGeom prst="roundRect">
            <a:avLst>
              <a:gd name="adj" fmla="val 32609"/>
            </a:avLst>
          </a:prstGeom>
          <a:solidFill>
            <a:srgbClr val="E1F9F0"/>
          </a:solidFill>
          <a:ln w="12700">
            <a:solidFill>
              <a:srgbClr val="E1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486460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need the theme!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middle components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don’t actually need it.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problem: PROP DRILLING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is passed from person to person, even if most do not need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984248"/>
            <a:ext cx="1920240" cy="685800"/>
          </a:xfrm>
          <a:prstGeom prst="roundRect">
            <a:avLst>
              <a:gd name="adj" fmla="val 21333"/>
            </a:avLst>
          </a:prstGeom>
          <a:solidFill>
            <a:srgbClr val="EEE9FF"/>
          </a:solidFill>
          <a:ln w="16510">
            <a:solidFill>
              <a:srgbClr val="7755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0756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48456" y="1984248"/>
            <a:ext cx="192024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D9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0756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Navbar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19672" y="1984248"/>
            <a:ext cx="192024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D9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0756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400032" y="1984248"/>
            <a:ext cx="1920240" cy="685800"/>
          </a:xfrm>
          <a:prstGeom prst="roundRect">
            <a:avLst>
              <a:gd name="adj" fmla="val 21333"/>
            </a:avLst>
          </a:prstGeom>
          <a:solidFill>
            <a:srgbClr val="E1F9F0"/>
          </a:solidFill>
          <a:ln w="16510">
            <a:solidFill>
              <a:srgbClr val="36B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2328" y="20756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706624" y="2322576"/>
            <a:ext cx="868680" cy="0"/>
          </a:xfrm>
          <a:prstGeom prst="line">
            <a:avLst/>
          </a:prstGeom>
          <a:noFill/>
          <a:ln w="50800">
            <a:solidFill>
              <a:srgbClr val="FA6C9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2322576"/>
            <a:ext cx="868680" cy="0"/>
          </a:xfrm>
          <a:prstGeom prst="line">
            <a:avLst/>
          </a:prstGeom>
          <a:noFill/>
          <a:ln w="50800">
            <a:solidFill>
              <a:srgbClr val="FA6C9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58200" y="2322576"/>
            <a:ext cx="868680" cy="0"/>
          </a:xfrm>
          <a:prstGeom prst="line">
            <a:avLst/>
          </a:prstGeom>
          <a:noFill/>
          <a:ln w="50800">
            <a:solidFill>
              <a:srgbClr val="FA6C9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33272" y="3145536"/>
            <a:ext cx="1426464" cy="420624"/>
          </a:xfrm>
          <a:prstGeom prst="roundRect">
            <a:avLst>
              <a:gd name="adj" fmla="val 32609"/>
            </a:avLst>
          </a:prstGeom>
          <a:solidFill>
            <a:srgbClr val="FFE7EF"/>
          </a:solidFill>
          <a:ln w="12700">
            <a:solidFill>
              <a:srgbClr val="FF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200400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6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04488" y="3145536"/>
            <a:ext cx="1426464" cy="420624"/>
          </a:xfrm>
          <a:prstGeom prst="roundRect">
            <a:avLst>
              <a:gd name="adj" fmla="val 32609"/>
            </a:avLst>
          </a:prstGeom>
          <a:solidFill>
            <a:srgbClr val="FFE7EF"/>
          </a:solidFill>
          <a:ln w="12700">
            <a:solidFill>
              <a:srgbClr val="FF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3200400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6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75704" y="3145536"/>
            <a:ext cx="1426464" cy="420624"/>
          </a:xfrm>
          <a:prstGeom prst="roundRect">
            <a:avLst>
              <a:gd name="adj" fmla="val 32609"/>
            </a:avLst>
          </a:prstGeom>
          <a:solidFill>
            <a:srgbClr val="FFE7EF"/>
          </a:solidFill>
          <a:ln w="12700">
            <a:solidFill>
              <a:srgbClr val="FF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3200400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6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56064" y="3145536"/>
            <a:ext cx="1426464" cy="420624"/>
          </a:xfrm>
          <a:prstGeom prst="roundRect">
            <a:avLst>
              <a:gd name="adj" fmla="val 32609"/>
            </a:avLst>
          </a:prstGeom>
          <a:solidFill>
            <a:srgbClr val="FFE7EF"/>
          </a:solidFill>
          <a:ln w="12700">
            <a:solidFill>
              <a:srgbClr val="FFE7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93224" y="3200400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6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15568" y="4105656"/>
            <a:ext cx="9912096" cy="1051560"/>
          </a:xfrm>
          <a:prstGeom prst="roundRect">
            <a:avLst>
              <a:gd name="adj" fmla="val 21739"/>
            </a:avLst>
          </a:prstGeom>
          <a:solidFill>
            <a:srgbClr val="FFF7DF"/>
          </a:solidFill>
          <a:ln w="12700">
            <a:solidFill>
              <a:srgbClr val="FFF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608" y="43434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props = repetitive code + harder refactoring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78408" y="54864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Props are NOT bad. Passing one or two levels is perfectly fine!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to the rescue!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 a shared noticeboard that all descendants can read.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78224" y="1481328"/>
            <a:ext cx="4041648" cy="987552"/>
          </a:xfrm>
          <a:prstGeom prst="roundRect">
            <a:avLst>
              <a:gd name="adj" fmla="val 18519"/>
            </a:avLst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755648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CONTEXT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68680" y="3767328"/>
            <a:ext cx="274320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7755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85876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Navbar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89904" y="2468880"/>
            <a:ext cx="-3849624" cy="1298448"/>
          </a:xfrm>
          <a:prstGeom prst="line">
            <a:avLst/>
          </a:prstGeom>
          <a:noFill/>
          <a:ln w="25400">
            <a:solidFill>
              <a:srgbClr val="1F9E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70248" y="3767328"/>
            <a:ext cx="274320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775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385876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89904" y="2468880"/>
            <a:ext cx="-448056" cy="1298448"/>
          </a:xfrm>
          <a:prstGeom prst="line">
            <a:avLst/>
          </a:prstGeom>
          <a:noFill/>
          <a:ln w="25400">
            <a:solidFill>
              <a:srgbClr val="1F9EE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17536" y="3767328"/>
            <a:ext cx="274320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6510">
            <a:solidFill>
              <a:srgbClr val="7755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85876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89904" y="2468880"/>
            <a:ext cx="2999232" cy="1298448"/>
          </a:xfrm>
          <a:prstGeom prst="line">
            <a:avLst/>
          </a:prstGeom>
          <a:noFill/>
          <a:ln w="25400">
            <a:solidFill>
              <a:srgbClr val="1F9EE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80560" y="5111496"/>
            <a:ext cx="3200400" cy="420624"/>
          </a:xfrm>
          <a:prstGeom prst="roundRect">
            <a:avLst>
              <a:gd name="adj" fmla="val 32609"/>
            </a:avLst>
          </a:prstGeom>
          <a:solidFill>
            <a:srgbClr val="E1F9F0"/>
          </a:solidFill>
          <a:ln w="12700">
            <a:solidFill>
              <a:srgbClr val="E1F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516636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B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when needed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4984" y="58795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middle components do NOT have to forward theme props.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3-step recipe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 →  PROVIDE  →  READ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3639312" cy="4023360"/>
          </a:xfrm>
          <a:prstGeom prst="roundRect">
            <a:avLst>
              <a:gd name="adj" fmla="val 6784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9112" y="1828800"/>
            <a:ext cx="758952" cy="758952"/>
          </a:xfrm>
          <a:prstGeom prst="ellipse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76856" y="19659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23544" y="2852928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context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13816" y="4837176"/>
            <a:ext cx="320040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93776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75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createContext()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9704" y="1554480"/>
            <a:ext cx="3639312" cy="4023360"/>
          </a:xfrm>
          <a:prstGeom prst="roundRect">
            <a:avLst>
              <a:gd name="adj" fmla="val 6784"/>
            </a:avLst>
          </a:prstGeom>
          <a:solidFill>
            <a:srgbClr val="E4F7FF"/>
          </a:solidFill>
          <a:ln w="12700">
            <a:solidFill>
              <a:srgbClr val="E4F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34456" y="1828800"/>
            <a:ext cx="758952" cy="758952"/>
          </a:xfrm>
          <a:prstGeom prst="ellipse">
            <a:avLst/>
          </a:prstGeom>
          <a:solidFill>
            <a:srgbClr val="1F9EE7"/>
          </a:solidFill>
          <a:ln w="12700">
            <a:solidFill>
              <a:srgbClr val="1F9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9659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18888" y="2852928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809744" y="354787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a value above the children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709160" y="4837176"/>
            <a:ext cx="320040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93776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75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&lt;ThemeContext value={...}&gt;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85048" y="1554480"/>
            <a:ext cx="3639312" cy="4023360"/>
          </a:xfrm>
          <a:prstGeom prst="roundRect">
            <a:avLst>
              <a:gd name="adj" fmla="val 6784"/>
            </a:avLst>
          </a:prstGeom>
          <a:solidFill>
            <a:srgbClr val="E1F9F0"/>
          </a:solidFill>
          <a:ln w="12700">
            <a:solidFill>
              <a:srgbClr val="E1F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1828800"/>
            <a:ext cx="758952" cy="758952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67544" y="19659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714232" y="2852928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8705088" y="354787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it inside any descendant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604504" y="4837176"/>
            <a:ext cx="320040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8512" y="493776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75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useContext(ThemeContext)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— Create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ThemeContext.jsx • Make one shared context object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" y="1490472"/>
            <a:ext cx="1828800" cy="420624"/>
          </a:xfrm>
          <a:prstGeom prst="roundRect">
            <a:avLst>
              <a:gd name="adj" fmla="val 32609"/>
            </a:avLst>
          </a:prstGeom>
          <a:solidFill>
            <a:srgbClr val="FFF7DF"/>
          </a:solidFill>
          <a:ln w="12700">
            <a:solidFill>
              <a:srgbClr val="FFF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4533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FILE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7434072" cy="2121408"/>
          </a:xfrm>
          <a:prstGeom prst="roundRect">
            <a:avLst>
              <a:gd name="adj" fmla="val 7759"/>
            </a:avLst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350008"/>
            <a:ext cx="692200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createContext } from 'react';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ThemeContext =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createContext('light');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458200" y="2148840"/>
            <a:ext cx="2971800" cy="2121408"/>
          </a:xfrm>
          <a:prstGeom prst="roundRect">
            <a:avLst>
              <a:gd name="adj" fmla="val 8621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VALUE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052560" y="323697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"light"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9264" y="489204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only when there is no matching provider above.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— Provide a value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the components that should receive the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481328"/>
            <a:ext cx="7516368" cy="4471416"/>
          </a:xfrm>
          <a:prstGeom prst="roundRect">
            <a:avLst>
              <a:gd name="adj" fmla="val 3681"/>
            </a:avLst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82496"/>
            <a:ext cx="700430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ThemeContext } from './ThemeContext';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&lt;ThemeContext value="dark"&gt;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&lt;Navbar /&gt;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&lt;/ThemeContext&gt;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394192" y="1664208"/>
            <a:ext cx="3108960" cy="3749040"/>
          </a:xfrm>
          <a:prstGeom prst="roundRect">
            <a:avLst>
              <a:gd name="adj" fmla="val 7353"/>
            </a:avLst>
          </a:prstGeom>
          <a:solidFill>
            <a:srgbClr val="E4F7FF"/>
          </a:solidFill>
          <a:ln w="12700">
            <a:solidFill>
              <a:srgbClr val="E4F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62872" y="1938528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906256" y="2788920"/>
            <a:ext cx="2084832" cy="685800"/>
          </a:xfrm>
          <a:prstGeom prst="roundRect">
            <a:avLst>
              <a:gd name="adj" fmla="val 21333"/>
            </a:avLst>
          </a:prstGeom>
          <a:solidFill>
            <a:srgbClr val="EEE9FF"/>
          </a:solidFill>
          <a:ln w="16510">
            <a:solidFill>
              <a:srgbClr val="775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88552" y="288036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948672" y="3493008"/>
            <a:ext cx="0" cy="512064"/>
          </a:xfrm>
          <a:prstGeom prst="line">
            <a:avLst/>
          </a:prstGeom>
          <a:noFill/>
          <a:ln w="38100">
            <a:solidFill>
              <a:srgbClr val="1F9EE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06256" y="4069080"/>
            <a:ext cx="2084832" cy="685800"/>
          </a:xfrm>
          <a:prstGeom prst="roundRect">
            <a:avLst>
              <a:gd name="adj" fmla="val 21333"/>
            </a:avLst>
          </a:prstGeom>
          <a:solidFill>
            <a:srgbClr val="E1F9F0"/>
          </a:solidFill>
          <a:ln w="16510">
            <a:solidFill>
              <a:srgbClr val="36B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88552" y="41605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Navbar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" y="604418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19+ supports this shorter provider syntax.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— Read with useContext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component that needs the data reads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" y="1463040"/>
            <a:ext cx="10012680" cy="3246120"/>
          </a:xfrm>
          <a:prstGeom prst="roundRect">
            <a:avLst>
              <a:gd name="adj" fmla="val 5070"/>
            </a:avLst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664208"/>
            <a:ext cx="9500616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useContext } from 'react';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ThemeContext } from './ThemeContext';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Button() {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theme = useContext(ThemeContext);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&lt;button&gt;{theme}&lt;/button&gt;;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081528" y="4992624"/>
            <a:ext cx="6053328" cy="868680"/>
          </a:xfrm>
          <a:prstGeom prst="roundRect">
            <a:avLst>
              <a:gd name="adj" fmla="val 23158"/>
            </a:avLst>
          </a:prstGeom>
          <a:solidFill>
            <a:srgbClr val="E1F9F0"/>
          </a:solidFill>
          <a:ln w="12700">
            <a:solidFill>
              <a:srgbClr val="E1F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5184648"/>
            <a:ext cx="5038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displays: dark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86384" y="608076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useContext finds the CLOSEST matching provider ABOVE.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interactive!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shares state. useState actually stores and updates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554480"/>
            <a:ext cx="10936224" cy="2249424"/>
          </a:xfrm>
          <a:prstGeom prst="roundRect">
            <a:avLst>
              <a:gd name="adj" fmla="val 7317"/>
            </a:avLst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55648"/>
            <a:ext cx="104241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[theme, setTheme] = useState('light');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&lt;ThemeContext value={{ theme, setTheme }}&gt;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&lt;ThemeButton /&gt;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&lt;/ThemeContext&gt;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58952" y="4288536"/>
            <a:ext cx="3785616" cy="1161288"/>
          </a:xfrm>
          <a:prstGeom prst="roundRect">
            <a:avLst>
              <a:gd name="adj" fmla="val 15748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59943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useState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62672" y="4288536"/>
            <a:ext cx="3749040" cy="1161288"/>
          </a:xfrm>
          <a:prstGeom prst="roundRect">
            <a:avLst>
              <a:gd name="adj" fmla="val 15748"/>
            </a:avLst>
          </a:prstGeom>
          <a:solidFill>
            <a:srgbClr val="E1F9F0"/>
          </a:solidFill>
          <a:ln w="12700">
            <a:solidFill>
              <a:srgbClr val="E1F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18704" y="4599432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B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useContext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572000" y="4864608"/>
            <a:ext cx="2980944" cy="0"/>
          </a:xfrm>
          <a:prstGeom prst="line">
            <a:avLst/>
          </a:prstGeom>
          <a:noFill/>
          <a:ln w="50800">
            <a:solidFill>
              <a:srgbClr val="7755D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234440" y="5650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data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45552" y="5650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shared data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project: Theme Switcher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the button. The theme changes for every component using that context.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0881360" cy="4389120"/>
          </a:xfrm>
          <a:prstGeom prst="roundRect">
            <a:avLst>
              <a:gd name="adj" fmla="val 3750"/>
            </a:avLst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618488"/>
            <a:ext cx="103692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ThemeButton()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theme, setTheme } =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useContext(ThemeContext);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onClick={() =&gt;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setTheme(theme === 'light' ? 'dark' : 'light')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}&gt;Switch theme&lt;/button&gt;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12848" y="6007608"/>
            <a:ext cx="7754112" cy="420624"/>
          </a:xfrm>
          <a:prstGeom prst="roundRect">
            <a:avLst>
              <a:gd name="adj" fmla="val 32609"/>
            </a:avLst>
          </a:prstGeom>
          <a:solidFill>
            <a:srgbClr val="FFF7DF"/>
          </a:solidFill>
          <a:ln w="12700">
            <a:solidFill>
              <a:srgbClr val="FFF7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6062472"/>
            <a:ext cx="7479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Challenge: change the page background too!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should we use Context?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is useful, but you do NOT need it everywhere.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481328"/>
            <a:ext cx="5330952" cy="4498848"/>
          </a:xfrm>
          <a:prstGeom prst="roundRect">
            <a:avLst>
              <a:gd name="adj" fmla="val 5488"/>
            </a:avLst>
          </a:prstGeom>
          <a:solidFill>
            <a:srgbClr val="E1F9F0"/>
          </a:solidFill>
          <a:ln w="12700">
            <a:solidFill>
              <a:srgbClr val="E1F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1051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6B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IDEAS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24712" y="2807208"/>
            <a:ext cx="155448" cy="155448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670048"/>
            <a:ext cx="4233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theme (light / dark)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24712" y="3538728"/>
            <a:ext cx="155448" cy="155448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401568"/>
            <a:ext cx="4233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preference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24712" y="4270248"/>
            <a:ext cx="155448" cy="155448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4133088"/>
            <a:ext cx="4233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Signed-in user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24712" y="5001768"/>
            <a:ext cx="155448" cy="155448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864608"/>
            <a:ext cx="4233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faraway consumers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36208" y="1481328"/>
            <a:ext cx="5330952" cy="4498848"/>
          </a:xfrm>
          <a:prstGeom prst="roundRect">
            <a:avLst>
              <a:gd name="adj" fmla="val 5488"/>
            </a:avLst>
          </a:prstGeom>
          <a:solidFill>
            <a:srgbClr val="FFE7EF"/>
          </a:solidFill>
          <a:ln w="12700">
            <a:solidFill>
              <a:srgbClr val="FF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1810512"/>
            <a:ext cx="4498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6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PROPS INSTEAD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720840" y="2807208"/>
            <a:ext cx="155448" cy="155448"/>
          </a:xfrm>
          <a:prstGeom prst="ellipse">
            <a:avLst/>
          </a:prstGeom>
          <a:solidFill>
            <a:srgbClr val="FA6C9E"/>
          </a:solidFill>
          <a:ln w="12700">
            <a:solidFill>
              <a:srgbClr val="FA6C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267004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parent → one child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20840" y="3538728"/>
            <a:ext cx="155448" cy="155448"/>
          </a:xfrm>
          <a:prstGeom prst="ellipse">
            <a:avLst/>
          </a:prstGeom>
          <a:solidFill>
            <a:srgbClr val="FA6C9E"/>
          </a:solidFill>
          <a:ln w="12700">
            <a:solidFill>
              <a:srgbClr val="FA6C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340156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small, local value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20840" y="4270248"/>
            <a:ext cx="155448" cy="155448"/>
          </a:xfrm>
          <a:prstGeom prst="ellipse">
            <a:avLst/>
          </a:prstGeom>
          <a:solidFill>
            <a:srgbClr val="FA6C9E"/>
          </a:solidFill>
          <a:ln w="12700">
            <a:solidFill>
              <a:srgbClr val="FA6C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13448" y="413308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reusable components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20840" y="5001768"/>
            <a:ext cx="155448" cy="155448"/>
          </a:xfrm>
          <a:prstGeom prst="ellipse">
            <a:avLst/>
          </a:prstGeom>
          <a:solidFill>
            <a:srgbClr val="FA6C9E"/>
          </a:solidFill>
          <a:ln w="12700">
            <a:solidFill>
              <a:srgbClr val="FA6C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486460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composition is enough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rules to remember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the most common beginner mistakes.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" y="1600200"/>
            <a:ext cx="5239512" cy="3639312"/>
          </a:xfrm>
          <a:prstGeom prst="roundRect">
            <a:avLst>
              <a:gd name="adj" fmla="val 6281"/>
            </a:avLst>
          </a:prstGeom>
          <a:solidFill>
            <a:srgbClr val="FFF7DF"/>
          </a:solidFill>
          <a:ln w="12700">
            <a:solidFill>
              <a:srgbClr val="FFF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56232"/>
            <a:ext cx="4471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24128" y="2615184"/>
            <a:ext cx="4471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consumer must be INSIDE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provider, not above it.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79576" y="4251960"/>
            <a:ext cx="4114800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16736" y="43068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 matters!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239512" cy="3639312"/>
          </a:xfrm>
          <a:prstGeom prst="roundRect">
            <a:avLst>
              <a:gd name="adj" fmla="val 6281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856232"/>
            <a:ext cx="4471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2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528816" y="2615184"/>
            <a:ext cx="4471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CLOSEST provider wins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providers are nested.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684264" y="4251960"/>
            <a:ext cx="4114800" cy="420624"/>
          </a:xfrm>
          <a:prstGeom prst="roundRect">
            <a:avLst>
              <a:gd name="adj" fmla="val 3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43068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 value wins!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705856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Bonus: useContext is a Hook — call it at the top level of your component.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MISSION: Build a Theme Control Center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props → notice the problem → replace them with Context.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" y="1655064"/>
            <a:ext cx="329184" cy="329184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0078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80744" y="1508760"/>
            <a:ext cx="9912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Build App → Navbar → Menu → ThemeButton.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59536" y="2368296"/>
            <a:ext cx="329184" cy="329184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414016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0744" y="2221992"/>
            <a:ext cx="9912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Store theme with useState in App.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9536" y="3081528"/>
            <a:ext cx="329184" cy="329184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127248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0744" y="2935224"/>
            <a:ext cx="9912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Pass theme using props first.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59536" y="3794760"/>
            <a:ext cx="329184" cy="329184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40480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0744" y="3648456"/>
            <a:ext cx="9912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Refactor to createContext + Provider + useContext.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9536" y="4507992"/>
            <a:ext cx="329184" cy="329184"/>
          </a:xfrm>
          <a:prstGeom prst="ellipse">
            <a:avLst/>
          </a:prstGeom>
          <a:solidFill>
            <a:srgbClr val="36B98A"/>
          </a:solidFill>
          <a:ln w="12700">
            <a:solidFill>
              <a:srgbClr val="36B9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53712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80744" y="4361688"/>
            <a:ext cx="9912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Add a second reader: ThemeLabel.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59536" y="5221224"/>
            <a:ext cx="329184" cy="329184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26694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80744" y="5074920"/>
            <a:ext cx="9912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BONUS: make a nested provider with a different theme.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362456" y="5971032"/>
            <a:ext cx="9509760" cy="420624"/>
          </a:xfrm>
          <a:prstGeom prst="roundRect">
            <a:avLst>
              <a:gd name="adj" fmla="val 32609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9616" y="6025896"/>
            <a:ext cx="9235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IN YOUR OWN WORDS: What problem did Context solve?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755DE"/>
          </a:solidFill>
          <a:ln w="12700">
            <a:solidFill>
              <a:srgbClr val="775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017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the magic formula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503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cheat sheet + official documentation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D9E3E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56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 •  LEARN BY SEEING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91088" y="651967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1517904"/>
            <a:ext cx="10332720" cy="1911096"/>
          </a:xfrm>
          <a:prstGeom prst="roundRect">
            <a:avLst>
              <a:gd name="adj" fmla="val 13397"/>
            </a:avLst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2130552"/>
            <a:ext cx="9372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     →      PROVIDE      →      READ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996696" y="3794760"/>
            <a:ext cx="3145536" cy="420624"/>
          </a:xfrm>
          <a:prstGeom prst="roundRect">
            <a:avLst>
              <a:gd name="adj" fmla="val 32609"/>
            </a:avLst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849624"/>
            <a:ext cx="2871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5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createContext()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17136" y="3794760"/>
            <a:ext cx="3145536" cy="420624"/>
          </a:xfrm>
          <a:prstGeom prst="roundRect">
            <a:avLst>
              <a:gd name="adj" fmla="val 32609"/>
            </a:avLst>
          </a:prstGeom>
          <a:solidFill>
            <a:srgbClr val="E4F7FF"/>
          </a:solidFill>
          <a:ln w="12700">
            <a:solidFill>
              <a:srgbClr val="E4F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3849624"/>
            <a:ext cx="2871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&lt;Context value={...}&gt;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37576" y="3794760"/>
            <a:ext cx="3145536" cy="420624"/>
          </a:xfrm>
          <a:prstGeom prst="roundRect">
            <a:avLst>
              <a:gd name="adj" fmla="val 32609"/>
            </a:avLst>
          </a:prstGeom>
          <a:solidFill>
            <a:srgbClr val="E1F9F0"/>
          </a:solidFill>
          <a:ln w="12700">
            <a:solidFill>
              <a:srgbClr val="E1F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3849624"/>
            <a:ext cx="2871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B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useContext(Context)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152" y="48188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shares values. It does not replace state.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143000" y="58155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docs: react.dev/learn/passing-data-deeply-with-context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Context API — The Secret Sharing Power</dc:title>
  <dc:subject>Teaching React Context API</dc:subject>
  <dc:creator>OpenAI</dc:creator>
  <cp:lastModifiedBy>OpenAI</cp:lastModifiedBy>
  <cp:revision>1</cp:revision>
  <dcterms:created xsi:type="dcterms:W3CDTF">2026-10-13T23:41:03Z</dcterms:created>
  <dcterms:modified xsi:type="dcterms:W3CDTF">2026-10-13T23:41:03Z</dcterms:modified>
</cp:coreProperties>
</file>